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10" Type="http://schemas.openxmlformats.org/officeDocument/2006/relationships/viewProps" Target="viewProps.xml" /><Relationship Id="rId9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2" Type="http://schemas.openxmlformats.org/officeDocument/2006/relationships/tableStyles" Target="tableStyles.xml" /><Relationship Id="rId11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Artificial Intelligence: The Future of Innovation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Exploring the Landscape, Capabilities, and Challenges of AI</a:t>
            </a:r>
            <a:br/>
            <a:br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Introduction to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What is Artificial Intelligence?</a:t>
            </a:r>
          </a:p>
          <a:p>
            <a:pPr lvl="0"/>
            <a:r>
              <a:rPr/>
              <a:t>The core concept: Simulating human intelligence in machines.</a:t>
            </a:r>
          </a:p>
          <a:p>
            <a:pPr lvl="0"/>
            <a:r>
              <a:rPr/>
              <a:t>The goal: Creating systems capable of learning, reasoning, and problem-solving.</a:t>
            </a:r>
          </a:p>
          <a:p>
            <a:pPr lvl="0"/>
            <a:r>
              <a:rPr/>
              <a:t>The impact: Transforming industries, economies, and daily life.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Spectrum of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Narrow AI (ANI):</a:t>
            </a:r>
            <a:r>
              <a:rPr/>
              <a:t> Specialized in specific tasks (e.g., facial recognition, recommendation engines).</a:t>
            </a:r>
          </a:p>
          <a:p>
            <a:pPr lvl="0"/>
            <a:r>
              <a:rPr b="1"/>
              <a:t>General AI (AGI):</a:t>
            </a:r>
            <a:r>
              <a:rPr/>
              <a:t> Human-level intelligence across all domains (theoretical).</a:t>
            </a:r>
          </a:p>
          <a:p>
            <a:pPr lvl="0"/>
            <a:r>
              <a:rPr b="1"/>
              <a:t>Super AI (ASI):</a:t>
            </a:r>
            <a:r>
              <a:rPr/>
              <a:t> Intelligence that surpasses human capabilities (theoretical).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Technical Foundation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Machine Learning (ML):</a:t>
            </a:r>
            <a:r>
              <a:rPr/>
              <a:t> Algorithms that learn from data.</a:t>
            </a:r>
          </a:p>
          <a:p>
            <a:pPr lvl="0"/>
            <a:r>
              <a:rPr b="1"/>
              <a:t>Deep Learning (DL):</a:t>
            </a:r>
            <a:r>
              <a:rPr/>
              <a:t> Neural networks inspired by the human brain.</a:t>
            </a:r>
          </a:p>
          <a:p>
            <a:pPr lvl="0"/>
            <a:r>
              <a:rPr b="1"/>
              <a:t>Reinforcement Learning (RL):</a:t>
            </a:r>
            <a:r>
              <a:rPr/>
              <a:t> Learning through trial and error.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AI in Action: Industry Transformation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 b="1"/>
                  <a:t>Healthcare:</a:t>
                </a:r>
                <a:r>
                  <a:rPr/>
                  <a:t> Disease diagnosis, drug discovery, personalized medicine.</a:t>
                </a:r>
              </a:p>
              <a:p>
                <a:pPr lvl="0"/>
                <a:r>
                  <a:rPr b="1"/>
                  <a:t>Finance:</a:t>
                </a:r>
                <a:r>
                  <a:rPr/>
                  <a:t> Fraud detection, algorithmic trading, credit scoring.</a:t>
                </a:r>
              </a:p>
              <a:p>
                <a:pPr lvl="0"/>
                <a:r>
                  <a:rPr/>
                  <a:t>** </a:t>
                </a:r>
                <a14:m>
                  <m:oMath xmlns:m="http://schemas.openxmlformats.org/officeDocument/2006/math">
                    <m:r>
                      <m:rPr>
                        <m:nor/>
                        <m:sty m:val="p"/>
                      </m:rPr>
                      <m:t>Retail:</m:t>
                    </m:r>
                  </m:oMath>
                </a14:m>
                <a:r>
                  <a:rPr/>
                  <a:t>** Personalized recommendations, inventory management, chatbots.</a:t>
                </a:r>
              </a:p>
              <a:p>
                <a:pPr lvl="0"/>
                <a:r>
                  <a:rPr b="1"/>
                  <a:t>Transportation:</a:t>
                </a:r>
                <a:r>
                  <a:rPr/>
                  <a:t> Autonomous vehicles, route optimization, logistics.</a:t>
                </a:r>
              </a:p>
            </p:txBody>
          </p:sp>
        </mc:Choice>
      </mc:AlternateContent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2025–2026 Frontier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Agentic AI:</a:t>
            </a:r>
            <a:r>
              <a:rPr/>
              <a:t> AI Agents that can autonomously execute multi-step workflows.</a:t>
            </a:r>
          </a:p>
          <a:p>
            <a:pPr lvl="0"/>
            <a:r>
              <a:rPr b="1"/>
              <a:t>Multimodal AI:</a:t>
            </a:r>
            <a:r>
              <a:rPr/>
              <a:t> Processing text, images, audio, and video simultaneously.</a:t>
            </a:r>
          </a:p>
          <a:p>
            <a:pPr lvl="0"/>
            <a:r>
              <a:rPr b="1"/>
              <a:t>RAG (Retrieval-Augmented Generation):</a:t>
            </a:r>
            <a:r>
              <a:rPr/>
              <a:t> Connecting LLMs to live, trusted data.</a:t>
            </a:r>
          </a:p>
          <a:p>
            <a:pPr lvl="0"/>
            <a:r>
              <a:rPr b="1"/>
              <a:t>Edge AI:</a:t>
            </a:r>
            <a:r>
              <a:rPr/>
              <a:t> Running powerful models directly on devices.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Ethical Considerations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Bias and Fairness:</a:t>
            </a:r>
            <a:r>
              <a:rPr/>
              <a:t> Preventing algorithmic discrimination.</a:t>
            </a:r>
          </a:p>
          <a:p>
            <a:pPr lvl="0"/>
            <a:r>
              <a:rPr b="1"/>
              <a:t>Transparency and Explainability:</a:t>
            </a:r>
            <a:r>
              <a:rPr/>
              <a:t> The “Black Box” problem.</a:t>
            </a:r>
          </a:p>
          <a:p>
            <a:pPr lvl="0"/>
            <a:r>
              <a:rPr b="1"/>
              <a:t>Privacy and Security:</a:t>
            </a:r>
            <a:r>
              <a:rPr/>
              <a:t> Protecting data and preventing deepfakes.</a:t>
            </a:r>
          </a:p>
          <a:p>
            <a:pPr lvl="0"/>
            <a:r>
              <a:rPr b="1"/>
              <a:t>Economic Impact:</a:t>
            </a:r>
            <a:r>
              <a:rPr/>
              <a:t> Navigating job displacement and automation.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Artificial Intelligence: The Future of Innovation</dc:title>
  <dc:creator/>
  <cp:keywords/>
  <dcterms:created xsi:type="dcterms:W3CDTF">2026-04-22T16:58:10Z</dcterms:created>
  <dcterms:modified xsi:type="dcterms:W3CDTF">2026-04-22T16:58:10Z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header-includes">
    <vt:lpwstr/>
  </property>
  <property fmtid="{D5CDD505-2E9C-101B-9397-08002B2CF9AE}" pid="4" name="include-after">
    <vt:lpwstr/>
  </property>
  <property fmtid="{D5CDD505-2E9C-101B-9397-08002B2CF9AE}" pid="5" name="include-before">
    <vt:lpwstr/>
  </property>
  <property fmtid="{D5CDD505-2E9C-101B-9397-08002B2CF9AE}" pid="6" name="labels">
    <vt:lpwstr/>
  </property>
  <property fmtid="{D5CDD505-2E9C-101B-9397-08002B2CF9AE}" pid="7" name="subtitle">
    <vt:lpwstr>Exploring the Landscape, Capabilities, and Challenges of AI</vt:lpwstr>
  </property>
  <property fmtid="{D5CDD505-2E9C-101B-9397-08002B2CF9AE}" pid="8" name="toc-title">
    <vt:lpwstr>Table of contents</vt:lpwstr>
  </property>
</Properties>
</file>