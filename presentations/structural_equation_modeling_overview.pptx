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Structural Equation Modeling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Structural Equation Modeling (SEM)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SEM is a multivariate framework that combines factor analysis and multiple regression to model complex relationships among observed and latent variables.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Latent variables: unobserved constructs inferred from indicators.</a:t>
            </a:r>
          </a:p>
          <a:p>
            <a:pPr lvl="0"/>
            <a:r>
              <a:rPr/>
              <a:t>• Observed variables: directly measured items.</a:t>
            </a:r>
          </a:p>
          <a:p>
            <a:pPr lvl="0"/>
            <a:r>
              <a:rPr/>
              <a:t>• Measurement model: specifies loadings of indicators on latent constructs.</a:t>
            </a:r>
          </a:p>
          <a:p>
            <a:pPr lvl="0"/>
            <a:r>
              <a:rPr/>
              <a:t>• Structural model: specifies causal paths among latent constructs.</a:t>
            </a:r>
          </a:p>
          <a:p>
            <a:pPr lvl="0"/>
            <a:r>
              <a:rPr/>
              <a:t>• Model identification &amp; fit assessment.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Maximum Likelihood (ML): assumes multivariate normality.</a:t>
            </a:r>
          </a:p>
          <a:p>
            <a:pPr lvl="0"/>
            <a:r>
              <a:rPr/>
              <a:t>• Generalized Least Squares (GLS).</a:t>
            </a:r>
          </a:p>
          <a:p>
            <a:pPr lvl="0"/>
            <a:r>
              <a:rPr/>
              <a:t>• Weighted Least Squares (WLS) &amp; Diagonal WLS (DWLS) for ordinal data.</a:t>
            </a:r>
          </a:p>
          <a:p>
            <a:pPr lvl="0"/>
            <a:r>
              <a:rPr/>
              <a:t>• Robust ML / Satorra–Bentler for non‑normality.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Fit Indices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Chi‑square (χ²), RMSEA, SRMR, CFI, TLI, NFI, GFI, PNFI, PGFI.</a:t>
            </a:r>
          </a:p>
          <a:p>
            <a:pPr lvl="0"/>
            <a:r>
              <a:rPr/>
              <a:t>• Typical cut‑offs: RMSEA &lt;0.05 good, CFI &gt;0.95 good, SRMR &lt;0.08 good.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• Psychology &amp; Education: latent constructs, mediation.</a:t>
            </a:r>
          </a:p>
          <a:p>
            <a:pPr lvl="0"/>
            <a:r>
              <a:rPr/>
              <a:t>• Health Sciences: disease pathways.</a:t>
            </a:r>
          </a:p>
          <a:p>
            <a:pPr lvl="0"/>
            <a:r>
              <a:rPr/>
              <a:t>• Marketing: brand equity models.</a:t>
            </a:r>
          </a:p>
          <a:p>
            <a:pPr lvl="0"/>
            <a:r>
              <a:rPr/>
              <a:t>• Social Sciences: policy evaluation, invariance.</a:t>
            </a:r>
          </a:p>
          <a:p>
            <a:pPr lvl="0"/>
            <a:r>
              <a:rPr/>
              <a:t>• Economics: simultaneous equations.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Start with a clear theory.</a:t>
            </a:r>
          </a:p>
          <a:p>
            <a:pPr lvl="0" indent="-342900" marL="342900">
              <a:buAutoNum startAt="2" type="arabicPeriod"/>
            </a:pPr>
            <a:r>
              <a:rPr/>
              <a:t>Check identification.</a:t>
            </a:r>
          </a:p>
          <a:p>
            <a:pPr lvl="0" indent="-342900" marL="342900">
              <a:buAutoNum startAt="3" type="arabicPeriod"/>
            </a:pPr>
            <a:r>
              <a:rPr/>
              <a:t>Choose estimator based on data.</a:t>
            </a:r>
          </a:p>
          <a:p>
            <a:pPr lvl="0" indent="-342900" marL="342900">
              <a:buAutoNum startAt="4" type="arabicPeriod"/>
            </a:pPr>
            <a:r>
              <a:rPr/>
              <a:t>Report multiple fit indices.</a:t>
            </a:r>
          </a:p>
          <a:p>
            <a:pPr lvl="0" indent="-342900" marL="342900">
              <a:buAutoNum startAt="5" type="arabicPeriod"/>
            </a:pPr>
            <a:r>
              <a:rPr/>
              <a:t>Avoid cherry‑picking.</a:t>
            </a:r>
          </a:p>
          <a:p>
            <a:pPr lvl="0" indent="-342900" marL="342900">
              <a:buAutoNum startAt="6" type="arabicPeriod"/>
            </a:pPr>
            <a:r>
              <a:rPr/>
              <a:t>Use robust software (Mplus, lavaan, AMOS).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Equation Modeling Overview</dc:title>
  <dc:creator/>
  <cp:keywords/>
  <dcterms:created xsi:type="dcterms:W3CDTF">2026-04-17T08:50:24Z</dcterms:created>
  <dcterms:modified xsi:type="dcterms:W3CDTF">2026-04-17T08:50:24Z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