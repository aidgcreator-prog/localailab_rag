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2" Type="http://schemas.openxmlformats.org/officeDocument/2006/relationships/viewProps" Target="viewProps.xml" /><Relationship Id="rId1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4" Type="http://schemas.openxmlformats.org/officeDocument/2006/relationships/tableStyles" Target="tableStyles.xml" /><Relationship Id="rId13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Evolution of Computing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Evolution of Computing: From Early Mainframes to the AI Era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Overview of the computing journey</a:t>
            </a:r>
          </a:p>
          <a:p>
            <a:pPr lvl="0"/>
            <a:r>
              <a:rPr/>
              <a:t>Progression through levels of abstraction</a:t>
            </a:r>
          </a:p>
          <a:p>
            <a:pPr lvl="0"/>
            <a:r>
              <a:rPr/>
              <a:t>The impact of miniaturization</a:t>
            </a:r>
          </a:p>
          <a:p>
            <a:pPr lvl="0"/>
            <a:r>
              <a:rPr/>
              <a:t>The shift towards global connectivity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Era of Foundational Machines (1930s – 1960s)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Use of vacuum tubes and mechanical relays</a:t>
            </a:r>
          </a:p>
          <a:p>
            <a:pPr lvl="0"/>
            <a:r>
              <a:rPr/>
              <a:t>The development of ENIAC</a:t>
            </a:r>
          </a:p>
          <a:p>
            <a:pPr lvl="0"/>
            <a:r>
              <a:rPr/>
              <a:t>Introduction of Von Neumann architecture</a:t>
            </a:r>
          </a:p>
          <a:p>
            <a:pPr lvl="0"/>
            <a:r>
              <a:rPr/>
              <a:t>Early mainframe computers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Personal Computing Revolution (1970s – 1980s)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The advent of the microprocessor</a:t>
            </a:r>
          </a:p>
          <a:p>
            <a:pPr lvl="0"/>
            <a:r>
              <a:rPr/>
              <a:t>Early hobbyist machines: Altair 8800</a:t>
            </a:r>
          </a:p>
          <a:p>
            <a:pPr lvl="0"/>
            <a:r>
              <a:rPr/>
              <a:t>The rise of the Apple II</a:t>
            </a:r>
          </a:p>
          <a:p>
            <a:pPr lvl="0"/>
            <a:r>
              <a:rPr/>
              <a:t>IBM PC and the standardization of personal computing</a:t>
            </a:r>
          </a:p>
          <a:p>
            <a:pPr lvl="0"/>
            <a:r>
              <a:rPr/>
              <a:t>Introduction of Graphical User Interfaces (GUI) with Macintosh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Internet and the World Wide Web (1990s – early 2000s)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Invention of the WWW by Tim Berners-Lee</a:t>
            </a:r>
          </a:p>
          <a:p>
            <a:pPr lvl="0"/>
            <a:r>
              <a:rPr/>
              <a:t>Emergence of HTTP and HTML protocols</a:t>
            </a:r>
          </a:p>
          <a:p>
            <a:pPr lvl="0"/>
            <a:r>
              <a:rPr/>
              <a:t>The impact of the Mosaic web browser</a:t>
            </a:r>
          </a:p>
          <a:p>
            <a:pPr lvl="0"/>
            <a:r>
              <a:rPr/>
              <a:t>Evolution from static web to Web 2.0 (interactivity)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Era of Mobile, Cloud, and AI (2010s – Present)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The smartphone revolution led by the iPhone</a:t>
            </a:r>
          </a:p>
          <a:p>
            <a:pPr lvl="0"/>
            <a:r>
              <a:rPr/>
              <a:t>Adoption of Cloud Computing (AWS, Azure, Google Cloud)</a:t>
            </a:r>
          </a:p>
          <a:p>
            <a:pPr lvl="0"/>
            <a:r>
              <a:rPr/>
              <a:t>Ubiquity of mobile connectivity</a:t>
            </a:r>
          </a:p>
          <a:p>
            <a:pPr lvl="0"/>
            <a:r>
              <a:rPr/>
              <a:t>The rise of Generative AI and Large Language Models (LLMs)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Summary 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1930s-1960s: Foundational Machines (Mainframes, Vacuum Tubes)</a:t>
            </a:r>
          </a:p>
          <a:p>
            <a:pPr lvl="0"/>
            <a:r>
              <a:rPr/>
              <a:t>1970s-1980s: Personal Computing (Microprocessors, GUI)</a:t>
            </a:r>
          </a:p>
          <a:p>
            <a:pPr lvl="0"/>
            <a:r>
              <a:rPr/>
              <a:t>1990s-2000s: Internet Era (WWW, Web 2.0)</a:t>
            </a:r>
          </a:p>
          <a:p>
            <a:pPr lvl="0"/>
            <a:r>
              <a:rPr/>
              <a:t>2010s-Present: Mobile, Cloud, &amp; AI (Smartphones, LLMs)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Reflection on the rapid pace of technological change</a:t>
            </a:r>
          </a:p>
          <a:p>
            <a:pPr lvl="0"/>
            <a:r>
              <a:rPr/>
              <a:t>Looking ahead: Quantum computing and beyond</a:t>
            </a:r>
          </a:p>
          <a:p>
            <a:pPr lvl="0"/>
            <a:r>
              <a:rPr/>
              <a:t>The ongoing impact of computing on human civilization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Evolution of Computing</dc:title>
  <dc:creator/>
  <cp:keywords/>
  <dcterms:created xsi:type="dcterms:W3CDTF">2026-04-22T17:05:55Z</dcterms:created>
  <dcterms:modified xsi:type="dcterms:W3CDTF">2026-04-22T17:05:55Z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header-includes">
    <vt:lpwstr/>
  </property>
  <property fmtid="{D5CDD505-2E9C-101B-9397-08002B2CF9AE}" pid="4" name="include-after">
    <vt:lpwstr/>
  </property>
  <property fmtid="{D5CDD505-2E9C-101B-9397-08002B2CF9AE}" pid="5" name="include-before">
    <vt:lpwstr/>
  </property>
  <property fmtid="{D5CDD505-2E9C-101B-9397-08002B2CF9AE}" pid="6" name="labels">
    <vt:lpwstr/>
  </property>
  <property fmtid="{D5CDD505-2E9C-101B-9397-08002B2CF9AE}" pid="7" name="toc-title">
    <vt:lpwstr>Table of contents</vt:lpwstr>
  </property>
</Properties>
</file>